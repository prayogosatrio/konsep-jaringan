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9d88b321-a4ab-8cea-a513-a68766a9ec92}">
          <p14:sldIdLst>
            <p14:sldId id="256"/>
            <p14:sldId id="257"/>
          </p14:sldIdLst>
        </p14:section>
        <p14:section name="Dasar Routing" id="{bcc9ab25-43d9-d58f-1085-8319070f1ed7}">
          <p14:sldIdLst>
            <p14:sldId id="258"/>
            <p14:sldId id="259"/>
            <p14:sldId id="260"/>
          </p14:sldIdLst>
        </p14:section>
        <p14:section name="Static Route" id="{d9754518-0278-5cf0-4894-289f4fafdcb2}">
          <p14:sldIdLst>
            <p14:sldId id="261"/>
          </p14:sldIdLst>
        </p14:section>
        <p14:section name="OSPF dan IS-IS" id="{86a70ee8-51a8-badf-b2be-a81649cf7ecf}">
          <p14:sldIdLst>
            <p14:sldId id="262"/>
            <p14:sldId id="263"/>
            <p14:sldId id="264"/>
          </p14:sldIdLst>
        </p14:section>
        <p14:section name="BGP" id="{e76ceb7e-2313-622c-d146-fbe8df03505a}">
          <p14:sldIdLst>
            <p14:sldId id="265"/>
            <p14:sldId id="266"/>
          </p14:sldIdLst>
        </p14:section>
        <p14:section name="Penutup" id="{b4da972d-0c86-240f-d41f-6c07b56166d1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1B2D"/>
                </a:solidFill>
                <a:latin typeface="+mn-lt"/>
              </a:rPr>
              <a:t>Administrative Distance bawaan (Cisco)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Connected</c:v>
                  </c:pt>
                  <c:pt idx="1">
                    <c:v>Static</c:v>
                  </c:pt>
                  <c:pt idx="2">
                    <c:v>eBGP</c:v>
                  </c:pt>
                  <c:pt idx="3">
                    <c:v>OSPF</c:v>
                  </c:pt>
                  <c:pt idx="4">
                    <c:v>IS-IS</c:v>
                  </c:pt>
                  <c:pt idx="5">
                    <c:v>iBGP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20</c:v>
                </c:pt>
                <c:pt idx="3">
                  <c:v>110</c:v>
                </c:pt>
                <c:pt idx="4">
                  <c:v>115</c:v>
                </c:pt>
                <c:pt idx="5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Pembukaan: tugas 7 membahas routing berdasarkan kursus Routing Fundamentals dari APNIC Academy.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Kursus berisi lima modul. Essay dan presentasi ini mengikuti urutan modul tersebut.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Router punya dua pekerjaan: membangun RIB dan meneruskan paket lewat FIB.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 beberapa entri cocok, router memilih prefix terpanjang.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Connected 0, static 1, eBGP 20, OSPF 110, IS-IS 115, iBGP 200. MikroTik memakai nilai yang sama; Juniper memakai preference dengan angka berbeda.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route sederhana, tetapi tidak bisa menyesuaikan diri ketika topologi berubah.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Tahap tetangga: Down, Init, 2-Way, ExStart, Exchange, Loading, Full.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Pembagian area membuat flooding LSA dan perhitungan SPF tetap ringan.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Packet Tracer tidak mendukung IS-IS; praktik bisa memakai GNS3, EVE-NG, atau MikroTik/Juniper.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BGP versi 4 (RFC 4271). Status sesi: Idle, Connect, Active, OpenSent, OpenConfirm, Established.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Router tepi kecil cukup memakai default route; hanya router yang butuh full table yang menyimpan semua prefix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IGP dibuat kecil agar konvergensi cepat; BGP mencari next hop-nya lewat IGP.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Tugas 7 Konsep Jaringan · Prayogo Adhi Satrio (3125600043)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Routing: Dari Routing Table hingga BGP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&amp; presentasi merujuk APNIC Academy — Routing Fundamentals Course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Prayogo Adhi Satrio · 3125600043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Jaringan · Teknik Informatika · PENS</a:t>
            </a:r>
            <a:endParaRPr lang="en-US" sz="1600" dirty="0"/>
          </a:p>
        </p:txBody>
      </p:sp>
      <p:pic>
        <p:nvPicPr>
          <p:cNvPr id="4" name="Ikon rou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Kursus rujukan: 5 modul, ±3–4 jam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APNIC Academy · gratis · contoh konfigurasi di Cisco IOS, Juniper Junos OS, dan MikroTik RouterOS</a:t>
            </a:r>
            <a:endParaRPr lang="en-US" sz="1400" dirty="0"/>
          </a:p>
        </p:txBody>
      </p:sp>
      <p:sp>
        <p:nvSpPr>
          <p:cNvPr id="4" name="Kartu modul 1"/>
          <p:cNvSpPr/>
          <p:nvPr/>
        </p:nvSpPr>
        <p:spPr>
          <a:xfrm>
            <a:off x="457200" y="1554480"/>
            <a:ext cx="1499616" cy="283464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830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51460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78892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Basics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4290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RIB, FIB, longest prefix match, AD</a:t>
            </a:r>
            <a:endParaRPr lang="en-US" sz="1300" dirty="0"/>
          </a:p>
        </p:txBody>
      </p:sp>
      <p:sp>
        <p:nvSpPr>
          <p:cNvPr id="10" name="Kartu modul 2"/>
          <p:cNvSpPr/>
          <p:nvPr/>
        </p:nvSpPr>
        <p:spPr>
          <a:xfrm>
            <a:off x="2139696" y="1554480"/>
            <a:ext cx="1499616" cy="283464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40864" y="17830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24" y="1920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340864" y="251460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340864" y="278892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Routes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2340864" y="34290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Default, black hole, floating, ECMP</a:t>
            </a:r>
            <a:endParaRPr lang="en-US" sz="1300" dirty="0"/>
          </a:p>
        </p:txBody>
      </p:sp>
      <p:sp>
        <p:nvSpPr>
          <p:cNvPr id="16" name="Kartu modul 3"/>
          <p:cNvSpPr/>
          <p:nvPr/>
        </p:nvSpPr>
        <p:spPr>
          <a:xfrm>
            <a:off x="3822192" y="1554480"/>
            <a:ext cx="1499616" cy="283464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023360" y="17830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9202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023360" y="251460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023360" y="278892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OSPF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023360" y="34290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Link-state, area, OSPFv2 &amp; v3</a:t>
            </a:r>
            <a:endParaRPr lang="en-US" sz="1300" dirty="0"/>
          </a:p>
        </p:txBody>
      </p:sp>
      <p:sp>
        <p:nvSpPr>
          <p:cNvPr id="22" name="Kartu modul 4"/>
          <p:cNvSpPr/>
          <p:nvPr/>
        </p:nvSpPr>
        <p:spPr>
          <a:xfrm>
            <a:off x="5504688" y="1554480"/>
            <a:ext cx="1499616" cy="283464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05856" y="17830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19202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705856" y="251460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705856" y="278892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IS-IS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5705856" y="34290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1/2, NET, IPv4 + IPv6</a:t>
            </a:r>
            <a:endParaRPr lang="en-US" sz="1300" dirty="0"/>
          </a:p>
        </p:txBody>
      </p:sp>
      <p:sp>
        <p:nvSpPr>
          <p:cNvPr id="28" name="Kartu modul 5"/>
          <p:cNvSpPr/>
          <p:nvPr/>
        </p:nvSpPr>
        <p:spPr>
          <a:xfrm>
            <a:off x="7187184" y="1554480"/>
            <a:ext cx="1499616" cy="283464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388352" y="17830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2" y="192024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88352" y="251460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388352" y="278892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BGP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7388352" y="34290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iBGP, eBGP, routing Internet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= belajar rute + meneruskan paket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Information Base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rute dari connected, static, dan routing protocol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Dilihat dengan show ip route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“berpikir” lambat dan teliti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20640" y="118872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98932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98932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Information Base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22860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Salinan rute terbaik dari RIB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Dioptimalkan untuk pencarian cepat (hardware)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untuk setiap paket</a:t>
            </a:r>
            <a:endParaRPr lang="en-US" sz="1500" dirty="0"/>
          </a:p>
        </p:txBody>
      </p:sp>
      <p:sp>
        <p:nvSpPr>
          <p:cNvPr id="13" name="Panah RIB ke FIB"/>
          <p:cNvSpPr/>
          <p:nvPr/>
        </p:nvSpPr>
        <p:spPr>
          <a:xfrm>
            <a:off x="4206240" y="2560320"/>
            <a:ext cx="731520" cy="5029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069080" y="3108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 terbaik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Longest prefix match: paling spesifik menang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table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291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hop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10.1.0.0/16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10.1.1.0/24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0.0.0.0/0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C (default)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206240" y="1097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datang dengan tujuan…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206240" y="1463040"/>
            <a:ext cx="44805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389120" y="1463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10.1.1.20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806440" y="1709928"/>
            <a:ext cx="36576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B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 paling panjang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06240" y="2331720"/>
            <a:ext cx="44805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10.1.2.5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806440" y="2578608"/>
            <a:ext cx="36576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/16 mengalahkan /0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06240" y="3200400"/>
            <a:ext cx="44805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806440" y="3447288"/>
            <a:ext cx="36576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default yang cocok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alasan VLSM (Tugas 6) bisa berjalan: subnet berbeda ukuran tetap dipilih dengan tepat.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sumber rute, dipilih lewat 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8988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188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dari interface aktif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414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2240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Diketik manual oleh admin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57200" y="333756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49300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291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Dipelajari lewat routing protocol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4069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kecil = lebih dipercaya. AD membandingkan antar-protokol; metric membandingkan jalur dalam satu protokol.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206240" y="1097280"/>
          <a:ext cx="44805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pola static route di jaringan nyata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44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route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 atau ::/0 — “kalau tidak tahu, kirim ke ISP”.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0.0.0.0 0.0.0.0 203.0.113.1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344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hole route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Membuang paket ke Null0; cegah loop &amp; jangkar prefix BGP.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192.0.2.0 255.255.255.0 Null0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Floating static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 cadangan dengan AD tinggi; aktif saat rute utama hilang.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0.0.0.0 0.0.0.0 198.51.100.1 200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92040" y="31546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918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2356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ECMP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562356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jalur dengan nilai sama; trafik dibagi rata.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48920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dua next hop, cost sama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OSPF: semua router memegang peta yang sama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IGP link-state · RFC 2328 (OSPFv2, IPv4) · RFC 5340 (OSPFv3, IPv6)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755648" y="1783080"/>
            <a:ext cx="13624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51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tetangga lewat multicast 224.0.0.5, tiap 10 detik di Ethernet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27832" y="15087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2783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86200" y="1783080"/>
            <a:ext cx="13624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587752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Adjacency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651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database sampai status Full; DR/BDR di segmen broadcast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58384" y="15087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5838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16752" y="1783080"/>
            <a:ext cx="13624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718304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Flooding LSA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2651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router menyebarkan info link-nya → LSDB identik se-area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88936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8893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SPF (Dijkstra)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894576" y="2651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jalur dengan total cost terkecil → masuk routing table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886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(Cisco) =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bandwidth (bawaan 100 Mbps) ÷ bandwidth interface. Jalur dengan total cost terkecil yang dipilih.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OSPF: semua area terhubung ke area 0</a:t>
            </a:r>
            <a:endParaRPr lang="en-US" sz="3000" dirty="0"/>
          </a:p>
        </p:txBody>
      </p:sp>
      <p:sp>
        <p:nvSpPr>
          <p:cNvPr id="3" name="Area 0"/>
          <p:cNvSpPr/>
          <p:nvPr/>
        </p:nvSpPr>
        <p:spPr>
          <a:xfrm>
            <a:off x="3108960" y="1188720"/>
            <a:ext cx="2926080" cy="13716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0" y="11887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0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(wajib)</a:t>
            </a:r>
            <a:endParaRPr lang="en-US" sz="2000" dirty="0"/>
          </a:p>
        </p:txBody>
      </p:sp>
      <p:sp>
        <p:nvSpPr>
          <p:cNvPr id="5" name="Area 1"/>
          <p:cNvSpPr/>
          <p:nvPr/>
        </p:nvSpPr>
        <p:spPr>
          <a:xfrm>
            <a:off x="457200" y="2971800"/>
            <a:ext cx="237744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9718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router</a:t>
            </a:r>
            <a:endParaRPr lang="en-US" sz="1800" dirty="0"/>
          </a:p>
        </p:txBody>
      </p:sp>
      <p:sp>
        <p:nvSpPr>
          <p:cNvPr id="7" name="Area 2"/>
          <p:cNvSpPr/>
          <p:nvPr/>
        </p:nvSpPr>
        <p:spPr>
          <a:xfrm>
            <a:off x="6309360" y="2971800"/>
            <a:ext cx="237744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29718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2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router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flipV="1">
            <a:off x="1645920" y="2651760"/>
            <a:ext cx="1234440" cy="3200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651760"/>
            <a:ext cx="1234440" cy="3200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377440"/>
            <a:ext cx="594360" cy="5943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06440" y="2377440"/>
            <a:ext cx="594360" cy="5943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064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868680"/>
            <a:ext cx="594360" cy="5943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06440" y="868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luar OSPF (mis. ISP)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menghubungkan area lain ke area 0.  </a:t>
            </a:r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ASBR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memasukkan rute dari luar OSPF.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IS-IS: link-state favorit ISP besar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OSPF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IS-IS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 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Atas IP (protokol 89)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Langsung di layer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 + IPv6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 protokol (v2 + v3)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proses (RFC 5308)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Hierarki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0 + area lain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 / Level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Batas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dalam router (ABR)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Pada link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IETF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10589 → RFC 1195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143000"/>
            <a:ext cx="3383280" cy="3337560"/>
          </a:xfrm>
          <a:prstGeom prst="roundRect">
            <a:avLst>
              <a:gd name="adj" fmla="val 328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53212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Alamat NET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53212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49.0001.0100.0000.0001.00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532120" y="22860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AFI privat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0001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Area ID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0100.0000.0001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 ID (dari 10.0.0.1)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NSEL, selalu 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BGP: protokol yang menyatukan Internet</a:t>
            </a:r>
            <a:endParaRPr lang="en-US" sz="3000" dirty="0"/>
          </a:p>
        </p:txBody>
      </p:sp>
      <p:sp>
        <p:nvSpPr>
          <p:cNvPr id="3" name="AS 64500 (kampus)"/>
          <p:cNvSpPr/>
          <p:nvPr/>
        </p:nvSpPr>
        <p:spPr>
          <a:xfrm>
            <a:off x="457200" y="1188720"/>
            <a:ext cx="2377440" cy="173736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94360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64500 (kampus)</a:t>
            </a:r>
            <a:endParaRPr lang="en-US" sz="1300" dirty="0"/>
          </a:p>
        </p:txBody>
      </p:sp>
      <p:sp>
        <p:nvSpPr>
          <p:cNvPr id="5" name="AS 64501 (ISP)"/>
          <p:cNvSpPr/>
          <p:nvPr/>
        </p:nvSpPr>
        <p:spPr>
          <a:xfrm>
            <a:off x="3931920" y="1188720"/>
            <a:ext cx="2377440" cy="173736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069080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64501 (ISP)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20116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574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20116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0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34440" y="2286000"/>
            <a:ext cx="8229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1234440" y="2606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06040" y="2286000"/>
            <a:ext cx="1554480" cy="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06040" y="1965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eBGP · TCP 179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11887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Path-vector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Mengumumkan prefix + AS_PATH; tolak rute berisi ASN sendiri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304288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manual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Tetangga dikonfigurasi, sesi TCP 179 sampai Established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419856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kebijakan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LOCAL_PREF, AS_PATH, MED, NEXT_HOP menentukan jalur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5852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24688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eBGP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iBGP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berbeda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yang sama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(Cisco)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hop diganti pengirim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Butuh full mesh / route reflector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Skala tabel BGP global (Januari 2026)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 juta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IPv4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 ±5% selama 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28016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554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241.800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IPv6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 ±9% selama 2025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71616" y="128016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54496" y="1554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77.900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254496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asal IPv4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 ±2% selama 2025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Pertumbuhan masih berjalan tetapi melambat. Sumber: G. Huston, “BGP in 2025”, APNIC Blog, 8 Januari 2026.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Protokol tidak bersaing, tetapi berbagi tugas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14300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(iBGP + eBGP)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pelanggan &amp; tabel Internet — “jaringan mana ada di mana?”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77240" y="2258568"/>
            <a:ext cx="75895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532888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258568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IGP: OSPF / IS-IS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&amp; link antar-router — “bagaimana mencapai router lain di jaringan saya?”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1097280" y="3374136"/>
            <a:ext cx="69494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48456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11680" y="3374136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default route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keluar ke ISP, rute cadangan, black hole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belajar rute ke RIB, lalu meneruskan paket lewat FIB dengan longest prefix match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memilih antar-sumber rute; metric memilih antar-jalur dalam satu protokol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&amp; IS-IS menjaga topologi internal; BGP menghubungkan puluhan ribu AS di Internet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Konsepnya sama di Cisco, Juniper, dan MikroTik — hanya sintaksnya berbeda</a:t>
            </a:r>
            <a:endParaRPr lang="en-US" sz="1600" dirty="0"/>
          </a:p>
        </p:txBody>
      </p:sp>
      <p:pic>
        <p:nvPicPr>
          <p:cNvPr id="4" name="Ikon selesa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Referensi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1143000"/>
            <a:ext cx="7498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APNIC Academy. Routing Fundamentals Course. academy.apnic.net/en/course/routing-fundamentals-course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APNIC Academy. Routing Basics (webinar course). academy.apnic.net/en?p=15099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Huston, G. BGP in 2025. APNIC Blog, 8 Januari 2026.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2328 OSPF v2 · RFC 5340 OSPF for IPv6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1195 IS-IS for TCP/IP · RFC 5308 Routing IPv6 with IS-IS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4271 BGP-4 · RFC 5737 &amp; RFC 5398 (alamat &amp; ASN dokumentasi)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uting Tugas 7">
  <a:themeElements>
    <a:clrScheme name="Routing Tugas 7">
      <a:dk1>
        <a:srgbClr val="0F1B2D"/>
      </a:dk1>
      <a:lt1>
        <a:srgbClr val="FFFFFF"/>
      </a:lt1>
      <a:dk2>
        <a:srgbClr val="1E3A5F"/>
      </a:dk2>
      <a:lt2>
        <a:srgbClr val="EEF2F7"/>
      </a:lt2>
      <a:accent1>
        <a:srgbClr val="F59E0B"/>
      </a:accent1>
      <a:accent2>
        <a:srgbClr val="3B82F6"/>
      </a:accent2>
      <a:accent3>
        <a:srgbClr val="64748B"/>
      </a:accent3>
      <a:accent4>
        <a:srgbClr val="BFDBFE"/>
      </a:accent4>
      <a:accent5>
        <a:srgbClr val="0EA5E9"/>
      </a:accent5>
      <a:accent6>
        <a:srgbClr val="A855F7"/>
      </a:accent6>
      <a:hlink>
        <a:srgbClr val="3B82F6"/>
      </a:hlink>
      <a:folHlink>
        <a:srgbClr val="64748B"/>
      </a:folHlink>
    </a:clrScheme>
    <a:fontScheme name="Routing Tugas 7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Routing Fundamentals — Tugas 7 Konsep Jaringan</dc:title>
  <dc:subject>PptxGenJS Presentation</dc:subject>
  <dc:creator>Prayogo Adhi Satrio</dc:creator>
  <cp:lastModifiedBy>Prayogo Adhi Satrio</cp:lastModifiedBy>
  <cp:revision>1</cp:revision>
  <dcterms:created xsi:type="dcterms:W3CDTF">2026-10-27T03:05:16Z</dcterms:created>
  <dcterms:modified xsi:type="dcterms:W3CDTF">2026-10-27T03:05:16Z</dcterms:modified>
</cp:coreProperties>
</file>